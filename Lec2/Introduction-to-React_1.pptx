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 for this session: we do not memorise React. We rebuild it. Every feature we meet, we first ask "what problem forced this to exist?"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six boxes quickly. Tell them we will physically write our own React in step 2 — that is the moment everything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batch: "library vs framework — who calls whom?" With a library you call it; with a framework it calls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live if you have time. The pain has to be felt, not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engineering instinct of the session: repeated shape + changing values = extract a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3 is worth a live demo: misspell a property and show that nothing happens, no error. That is what "error-prone" means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Object.assign(element.style, {...}) copies every key of the style object onto the real style object. Show it in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the seed here and pay it off on the "why two libraries" slide. Do not explain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word "description". Imperative (how) has become declarative (what). That is the whole philosophy of React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student only remembers one slide, it should be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script tags: react and react-dom. Notice they are two separate files — that is not an accident, and we are about to find out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hinge of the whole session.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"if this function never touches the DOM, what could it possibly be useful for?" Let them sit with it for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in the browser console with the CDN loaded. Seeing the raw object beats any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is the famous reason. Portability is the deeper one, and it is the one that explains the React / ReactDOM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every document.* call in the whole system lives in this one file. React itself stays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React writes the screenplay; ReactDOM is the film crew. Different crews can shoot the same screenplay.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diagram once, then back up. The branch point is the Virtual 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a real app is exactly this object, just thousands of levels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"does React Native really work like this?" — yes, same React package, different renderer.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17 had to re-check all that setup on every call. React 18 does it once and hands you a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analogy with a one-time setup works — a gym membership, installing an app. Use whichever lands with your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for a five-minute break. Ask two questions before it: what does createElement return, and who talks to the DOM?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SyntaxError live. Then add type="text/babel" and watch it work. Ten seconds, huge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2 trips everyone up. Say out loud: "outer brace = enter JavaScript, inner brace = object literal".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test: "could I pass this to console.log()?" If yes it goes in braces. If no, it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boolean row is the one to dwell on — it is the foundation of conditional rendering.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 bug appears in almost every beginner project. Warn them now and they will remember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Babel REPL live. Delete a closing tag and show the error. This demystifies JSX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interview question. Give them the one-line answer: same level = transpile, lower level = 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network tab: the standalone Babel bundle is large. That alone explains why nobody ships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cliffhanger for the capital-letter rule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lowercase version. A blank page with zero errors is far more convincing than a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&lt;Card /&gt; tags, one definition — this is the answer to "not reusable" from the problem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object from the JSX attribute to the function parameter. Once they see it is the same object, props stop being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onClick={fn()} bug is worth demoing — it fires immediately on render and often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to useState next session. Say it explicitly so they expect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slide 14 by name. Students love the moment where an earlier detail pays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batch recite this chain back to you. It should become automatic.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as you speak. The recursion is what most tutorials never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bodies and ask the batch to explain each title. Quick, high-energy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498080" y="2423160"/>
            <a:ext cx="4572000" cy="1737360"/>
          </a:xfrm>
          <a:prstGeom prst="ellipse">
            <a:avLst/>
          </a:prstGeom>
          <a:ln w="19050">
            <a:solidFill>
              <a:srgbClr val="61DAFB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600000">
            <a:off x="7498080" y="2423160"/>
            <a:ext cx="4572000" cy="1737360"/>
          </a:xfrm>
          <a:prstGeom prst="ellipse">
            <a:avLst/>
          </a:prstGeom>
          <a:ln w="19050">
            <a:solidFill>
              <a:srgbClr val="61DAF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0">
            <a:off x="7498080" y="2423160"/>
            <a:ext cx="4572000" cy="1737360"/>
          </a:xfrm>
          <a:prstGeom prst="ellipse">
            <a:avLst/>
          </a:prstGeom>
          <a:ln w="19050">
            <a:solidFill>
              <a:srgbClr val="61DAFB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2971800"/>
            <a:ext cx="640080" cy="640080"/>
          </a:xfrm>
          <a:prstGeom prst="ellipse">
            <a:avLst/>
          </a:prstGeom>
          <a:solidFill>
            <a:srgbClr val="61DAFB">
              <a:alpha val="28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SCHOOL OF TECHNOLOGY  ·  FULL STACK BATCH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288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React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library from scratch, so the real one makes sense.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7132320" cy="735909"/>
          </a:xfrm>
          <a:prstGeom prst="roundRect">
            <a:avLst>
              <a:gd name="adj" fmla="val 6213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" y="3657600"/>
            <a:ext cx="6839712" cy="461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"h1"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Harsh Bhaiya Students"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{ type: "h1", props: { id: "first", children: "Hello" } }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92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document.createElement to props, components and the Virtual DOM — derived from first principles.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going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Each one exists because the previous one hurt.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92224"/>
            <a:ext cx="350520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956816"/>
            <a:ext cx="249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359152"/>
            <a:ext cx="2993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DOM manipulation, and why it does not scale past three elements.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8160" y="1792224"/>
            <a:ext cx="350520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5904" y="195681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6590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77968" y="1956816"/>
            <a:ext cx="249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React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84192" y="2359152"/>
            <a:ext cx="2993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15-line helper library that removes the repetition.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7680" y="1792224"/>
            <a:ext cx="350520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5424" y="195681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542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57488" y="1956816"/>
            <a:ext cx="249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&amp; Renderers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63712" y="2359152"/>
            <a:ext cx="2993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React returns, and why React and ReactDOM are separate.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83864"/>
            <a:ext cx="350520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364845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3648456"/>
            <a:ext cx="249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&amp; Babel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4050792"/>
            <a:ext cx="2993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 that is not HTML, and the tool that translates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28160" y="3483864"/>
            <a:ext cx="350520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5904" y="364845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6590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77968" y="3648456"/>
            <a:ext cx="249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84192" y="4050792"/>
            <a:ext cx="2993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return JSX — and why the capital letter is mandatory.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07680" y="3483864"/>
            <a:ext cx="350520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45424" y="364845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4542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57488" y="3648456"/>
            <a:ext cx="249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&amp; The Full Flow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63712" y="4050792"/>
            <a:ext cx="2993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down, and tracing one render end to end.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9536" y="512064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the session: never accept a React feature as a rule. Always ask what breaks without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is React, officially?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280160"/>
            <a:ext cx="10442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"React is a JavaScript library for building user interfaces."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17392" cy="1737360"/>
          </a:xfrm>
          <a:prstGeom prst="roundRect">
            <a:avLst>
              <a:gd name="adj" fmla="val 36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4505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450592"/>
            <a:ext cx="251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library, not a framework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852928"/>
            <a:ext cx="3005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one job: describe UI. Routing, data fetching and build tooling are your choice.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2064" y="2286000"/>
            <a:ext cx="3517392" cy="1737360"/>
          </a:xfrm>
          <a:prstGeom prst="roundRect">
            <a:avLst>
              <a:gd name="adj" fmla="val 36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9808" y="24505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980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71872" y="2450592"/>
            <a:ext cx="251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touch the DOM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8096" y="2852928"/>
            <a:ext cx="3005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itself never calls document.createElement. A separate renderer does that.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5488" y="2286000"/>
            <a:ext cx="3517392" cy="1737360"/>
          </a:xfrm>
          <a:prstGeom prst="roundRect">
            <a:avLst>
              <a:gd name="adj" fmla="val 36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3232" y="24505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323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845296" y="2450592"/>
            <a:ext cx="251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51520" y="2852928"/>
            <a:ext cx="3005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React output can become a web page, a mobile screen, or a PDF.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1A10"/>
          </a:solidFill>
          <a:ln w="12700">
            <a:solidFill>
              <a:srgbClr val="4A34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420624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sentence is true but useless on its own. For the next 20 minutes, forget it — we are going to earn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HTML elements with styles, className, id and text content — using plain JavaScript.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498080" cy="2678095"/>
          </a:xfrm>
          <a:prstGeom prst="roundRect">
            <a:avLst>
              <a:gd name="adj" fmla="val 1707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38988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7205472" cy="2403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the first element — the traditional way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'orange'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'30px'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'ele1'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Harsh Bhaiya Students'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66760" y="1700784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22792" y="186537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lines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22792" y="2267712"/>
            <a:ext cx="2734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heading on the screen.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66760" y="3328416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22792" y="34930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mental model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22792" y="3895344"/>
            <a:ext cx="2734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configure → attach. Every single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892040"/>
            <a:ext cx="10442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wrong. It is just about to get painful — the next slide is the same eight lines again, with different values.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do it again. And again.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949440" cy="3293120"/>
          </a:xfrm>
          <a:prstGeom prst="roundRect">
            <a:avLst>
              <a:gd name="adj" fmla="val 138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17320"/>
            <a:ext cx="6656832" cy="301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Second element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'blue'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'para'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'This is a paragraph'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Third element... (repetitive!)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'span'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'green'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'tag'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...the same seven lines, forever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1280160"/>
            <a:ext cx="3794760" cy="2103120"/>
          </a:xfrm>
          <a:prstGeom prst="roundRect">
            <a:avLst>
              <a:gd name="adj" fmla="val 304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74152" y="144475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pattern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74152" y="1847088"/>
            <a:ext cx="32826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tag name, the values and the variable name change.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code is identical every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361188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9016" y="3611880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shape repeats and only the values change, that is a function waiting to be written.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problems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style complaints — each one costs real time on a real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67712"/>
            <a:ext cx="48828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near-identical lines per element. A 30-element page is 200 lines of noise.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700784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5664" y="186537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5566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267712"/>
            <a:ext cx="48828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how elements get attached and you edit every single block by hand.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73989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7398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142232"/>
            <a:ext cx="48828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textContant, not textContent — and JavaScript will not warn you. It just silently does nothing.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575304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373989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55664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37398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reusable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142232"/>
            <a:ext cx="48828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"card" built this way cannot be reused. You copy-paste it and edit the copy.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5266944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abstraction in React exists to kill one of these four. Keep them on the board all session.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6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610" y="3185770"/>
            <a:ext cx="486461" cy="486461"/>
          </a:xfrm>
          <a:prstGeom prst="ellipse">
            <a:avLst/>
          </a:prstGeom>
          <a:solidFill>
            <a:srgbClr val="61DAFB">
              <a:alpha val="3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React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using the library, write the library.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lines is all it takes to feel the idea.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OUR LIBRARY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createElement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that takes everything that changes: the tag, the attributes and the 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315200" cy="3843406"/>
          </a:xfrm>
          <a:prstGeom prst="roundRect">
            <a:avLst>
              <a:gd name="adj" fmla="val 119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7022592" cy="3569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'style'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38160" y="1700784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186537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2267712"/>
            <a:ext cx="2962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create: "h1", "p", "div".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3118104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28269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685032"/>
            <a:ext cx="2962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of everything to configure. style is special — merge it; everything else is a direct assignment.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4535424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470001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5102352"/>
            <a:ext cx="2962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inside. (For now, just text.)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OUR LIBRARY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ReactDOM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element and putting it on the screen are two different jobs. Two different objects.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6766560" cy="1804111"/>
          </a:xfrm>
          <a:prstGeom prst="roundRect">
            <a:avLst>
              <a:gd name="adj" fmla="val 2534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6473952" cy="1529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35240" y="1700784"/>
            <a:ext cx="3977640" cy="2743200"/>
          </a:xfrm>
          <a:prstGeom prst="roundRect">
            <a:avLst>
              <a:gd name="adj" fmla="val 23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91272" y="1865376"/>
            <a:ext cx="3465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second object at all?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267712"/>
            <a:ext cx="34655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this looks like pointless ceremony — one line wrapped in an object.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thought. In about ten slides this split turns out to be the single most important design decision in React.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3758184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builds what you want.  ReactDOM puts it where you want 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OUR LIBRARY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680960" cy="2969423"/>
          </a:xfrm>
          <a:prstGeom prst="roundRect">
            <a:avLst>
              <a:gd name="adj" fmla="val 154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17320"/>
            <a:ext cx="7388352" cy="269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element1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'orange'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'30px'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'ele1'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Harsh Bhaiya Students'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element1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03920" y="1280160"/>
            <a:ext cx="3108960" cy="1097280"/>
          </a:xfrm>
          <a:prstGeom prst="roundRect">
            <a:avLst>
              <a:gd name="adj" fmla="val 58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59952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59952" y="184708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what you want, not the steps to build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03920" y="2578608"/>
            <a:ext cx="3108960" cy="1097280"/>
          </a:xfrm>
          <a:prstGeom prst="roundRect">
            <a:avLst>
              <a:gd name="adj" fmla="val 58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59952" y="27432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59952" y="314553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function, any number of elements.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3877056"/>
            <a:ext cx="3108960" cy="1097280"/>
          </a:xfrm>
          <a:prstGeom prst="roundRect">
            <a:avLst>
              <a:gd name="adj" fmla="val 58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59952" y="40416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2" y="444398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creation logic in one place, everything updates.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480560"/>
            <a:ext cx="7059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on screen. Nine lines of instructions replaced by one description.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OUR LIBRARY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 on screen. Completely different way of thinking.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46504"/>
            <a:ext cx="5532120" cy="2168271"/>
          </a:xfrm>
          <a:prstGeom prst="roundRect">
            <a:avLst>
              <a:gd name="adj" fmla="val 2109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43560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 —  step by step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83664"/>
            <a:ext cx="5239512" cy="189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'orange'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'30px'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'ele1'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Harsh Bhaiya Students'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46504"/>
            <a:ext cx="5257800" cy="2572893"/>
          </a:xfrm>
          <a:prstGeom prst="roundRect">
            <a:avLst>
              <a:gd name="adj" fmla="val 1777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1384" y="143560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 —  one description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83664"/>
            <a:ext cx="4965192" cy="229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'orange'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'30px'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'ele1'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Harsh Bhaiya Students'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507492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code tells the browser HOW to build the UI. Declarative code states WHAT the UI should be, and lets a library work out the how.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REAL REACT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 us use the actual library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a CDN — no build tools, no npm, nothing to install.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11064240" cy="4426062"/>
          </a:xfrm>
          <a:prstGeom prst="roundRect">
            <a:avLst>
              <a:gd name="adj" fmla="val 1033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38988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10771632" cy="415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"root"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crossorigin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"https://unpkg.com/react@18/umd/react.development.js"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crossorigin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"https://unpkg.com/react-dom@18/umd/react-dom.development.js"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'orange'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Harsh Bhaiya Students'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REAL REACT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looks the same. The machinery does not.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04104" cy="2194560"/>
          </a:xfrm>
          <a:prstGeom prst="roundRect">
            <a:avLst>
              <a:gd name="adj" fmla="val 291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384048" cy="38404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53619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library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38528"/>
            <a:ext cx="4892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React.createElement() immediately calls document.createElement() and hands you back a real DOM node.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involved from line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1371600"/>
            <a:ext cx="5404104" cy="2194560"/>
          </a:xfrm>
          <a:prstGeom prst="roundRect">
            <a:avLst>
              <a:gd name="adj" fmla="val 291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536192"/>
            <a:ext cx="384048" cy="384048"/>
          </a:xfrm>
          <a:prstGeom prst="ellipse">
            <a:avLst/>
          </a:prstGeom>
          <a:solidFill>
            <a:srgbClr val="5CD6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153619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React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938528"/>
            <a:ext cx="4892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React.createElement() touches the DOM zero times. It returns a plain JavaScript object describing what you asked for.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not involved at all.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384048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differences that change everything: what createElement returns, and createRoot instead of render.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752094"/>
          </a:xfrm>
          <a:prstGeom prst="roundRect">
            <a:avLst>
              <a:gd name="adj" fmla="val 6079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4846320"/>
            <a:ext cx="10771632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"object"  -&gt; an HTMLHeadingElement, already a real DOM node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"object"  -&gt; a plain {} that the DOM has never heard of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DEEP DIVE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React.createElement really returns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 (simplified) reimplementation of the real thing.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635240" cy="2750927"/>
          </a:xfrm>
          <a:prstGeom prst="roundRect">
            <a:avLst>
              <a:gd name="adj" fmla="val 1662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7342632" cy="2476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just a plain JavaScript object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"h1", or a component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everything you passed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children live INSIDE props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458200" y="1700784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14232" y="1865376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14232" y="2267712"/>
            <a:ext cx="26426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"document" does not appear. This function would run happily in Node, on a phone, on a server.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58200" y="333756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14232" y="350215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is a prop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14232" y="3904488"/>
            <a:ext cx="26426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— it is why the children prop exists later in the session.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DEEP DIVE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and look at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051514"/>
          </a:xfrm>
          <a:prstGeom prst="roundRect">
            <a:avLst>
              <a:gd name="adj" fmla="val 434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243584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691640"/>
            <a:ext cx="10771632" cy="77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486400" cy="1990237"/>
          </a:xfrm>
          <a:prstGeom prst="roundRect">
            <a:avLst>
              <a:gd name="adj" fmla="val 2297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275234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200400"/>
            <a:ext cx="5193792" cy="171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"h1"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306324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3227832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it. That is a React element.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630168"/>
            <a:ext cx="47914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render method. No DOM node. No magic. Just type and props.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description of what the UI should look like — the way a recipe describes a cake without being one.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DEEP DIVE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object is the Virtual DOM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04104" cy="192024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90472"/>
            <a:ext cx="384048" cy="38404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49047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92808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real DOM element.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attached to any page.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something the browser understands.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copy of the whole page.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1325880"/>
            <a:ext cx="5404104" cy="192024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490472"/>
            <a:ext cx="384048" cy="384048"/>
          </a:xfrm>
          <a:prstGeom prst="ellipse">
            <a:avLst/>
          </a:prstGeom>
          <a:solidFill>
            <a:srgbClr val="5CD6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149047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892808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JavaScript object.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of the UI you want.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create, cheap to throw away.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COMPARE with another one.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04104" cy="1828800"/>
          </a:xfrm>
          <a:prstGeom prst="roundRect">
            <a:avLst>
              <a:gd name="adj" fmla="val 3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5935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995928"/>
            <a:ext cx="4892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the real DOM is slow. Comparing two JavaScript objects is fast.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React keeps a description, builds a new description when data changes, compares the two, and updates only the real DOM nodes that actually differ.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3429000"/>
            <a:ext cx="5404104" cy="1828800"/>
          </a:xfrm>
          <a:prstGeom prst="roundRect">
            <a:avLst>
              <a:gd name="adj" fmla="val 3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4808" y="35935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second payoff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3995928"/>
            <a:ext cx="4892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description mentions no browser API, it is not tied to a browser at all.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 could describe a mobile screen or a page of a PDF. That is where the next section goes.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DEEP DIVE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ReactDOM actually does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description and builds real DOM nodes from it. This is where the browser finally appears.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11064240" cy="4620280"/>
          </a:xfrm>
          <a:prstGeom prst="roundRect">
            <a:avLst>
              <a:gd name="adj" fmla="val 99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10771632" cy="434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Virtual DOM object  -&gt;  real DOM node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'style'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'children'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separate libraries?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280160"/>
            <a:ext cx="1044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We only ever use them together. Why are React and ReactDOM not one package?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94560"/>
            <a:ext cx="10442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Because React produces platform-agnostic descriptions, and different renderers turn those descriptions into platform-specific UI.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517392" cy="2011680"/>
          </a:xfrm>
          <a:prstGeom prst="roundRect">
            <a:avLst>
              <a:gd name="adj" fmla="val 318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364992"/>
            <a:ext cx="3005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767328"/>
            <a:ext cx="30053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the UI should be.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about types, props, children, state and change detection.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pixels.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2064" y="3200400"/>
            <a:ext cx="3517392" cy="2011680"/>
          </a:xfrm>
          <a:prstGeom prst="roundRect">
            <a:avLst>
              <a:gd name="adj" fmla="val 318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8096" y="3364992"/>
            <a:ext cx="3005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8096" y="3767328"/>
            <a:ext cx="30053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to draw it, HERE.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about document, elements, attributes and browser events.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your app.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3200400"/>
            <a:ext cx="3517392" cy="2011680"/>
          </a:xfrm>
          <a:prstGeom prst="roundRect">
            <a:avLst>
              <a:gd name="adj" fmla="val 318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1520" y="3364992"/>
            <a:ext cx="3005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51520" y="3767328"/>
            <a:ext cx="30053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renderer, keep the React.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you learn today transfers unchanged to React Native, React PDF and React Three Fiber.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480560" y="12344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90288" y="12344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9048" y="1737360"/>
            <a:ext cx="0" cy="320040"/>
          </a:xfrm>
          <a:prstGeom prst="line">
            <a:avLst/>
          </a:prstGeom>
          <a:noFill/>
          <a:ln w="22225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2057400"/>
            <a:ext cx="461772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04488" y="2057400"/>
            <a:ext cx="4398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React.createElement()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99048" y="2587752"/>
            <a:ext cx="0" cy="320040"/>
          </a:xfrm>
          <a:prstGeom prst="line">
            <a:avLst/>
          </a:prstGeom>
          <a:noFill/>
          <a:ln w="22225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907792"/>
            <a:ext cx="608076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72968" y="2907792"/>
            <a:ext cx="5861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 —  a plain JavaScript object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 · fast to create · fast to compare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9048" y="3621024"/>
            <a:ext cx="0" cy="292608"/>
          </a:xfrm>
          <a:prstGeom prst="line">
            <a:avLst/>
          </a:prstGeom>
          <a:noFill/>
          <a:ln w="22225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737360" y="3913632"/>
            <a:ext cx="8732520" cy="0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3913632"/>
            <a:ext cx="0" cy="274320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422452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42245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800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elements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13632"/>
            <a:ext cx="0" cy="274320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29000" y="422452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38728" y="42245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4800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views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3913632"/>
            <a:ext cx="0" cy="274320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422452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3368" y="42245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PDF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800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32720" y="3913632"/>
            <a:ext cx="0" cy="274320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422452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08008" y="42245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Three Fiber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800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WebGL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and meshes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5623560"/>
            <a:ext cx="10442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the engine. Renderers are the wheels you fit for the terrain.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description, four destinations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a Virtual DOM tree that mentions no platform at 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315200" cy="2750927"/>
          </a:xfrm>
          <a:prstGeom prst="roundRect">
            <a:avLst>
              <a:gd name="adj" fmla="val 1662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7022592" cy="2476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vdom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'View'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20 },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onPress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handleClick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38160" y="1700784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186537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can be an array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2267712"/>
            <a:ext cx="2962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elements are just nested objects. A whole page is one deeply nested object.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333756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50215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document, no UIView, no PDF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904488"/>
            <a:ext cx="2962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this object commits to a platform. The renderer decides what "View" means.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object. Three renderers.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1691640"/>
          </a:xfrm>
          <a:prstGeom prst="roundRect">
            <a:avLst>
              <a:gd name="adj" fmla="val 2703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06070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  →  Web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508760"/>
            <a:ext cx="3273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"padding: 20px"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"handleClick()"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1691640"/>
          </a:xfrm>
          <a:prstGeom prst="roundRect">
            <a:avLst>
              <a:gd name="adj" fmla="val 2703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9704" y="106070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→  Mobile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1508760"/>
            <a:ext cx="3273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UIView (padding: 20)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UILabel: "Hello World"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UIButton: "Click"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(onPress: handleClick)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1691640"/>
          </a:xfrm>
          <a:prstGeom prst="roundRect">
            <a:avLst>
              <a:gd name="adj" fmla="val 2703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06070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PDF  →  Document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1508760"/>
            <a:ext cx="3273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Page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Text: "Hello World"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      at (x: 20, y: 20)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Rectangle: "Click"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(x: 20, y: 50)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329184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write three versions. You wrote one description and chose a renderer.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359027"/>
          </a:xfrm>
          <a:prstGeom prst="roundRect">
            <a:avLst>
              <a:gd name="adj" fmla="val 3364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4297680"/>
            <a:ext cx="10771632" cy="1084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separation — you would need a different API per platform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ReactWeb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ReactMobile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separation — one API, many renderers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 |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ReactNative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REACT 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vs createRoot()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changed how you start an app. The reason is a clean first principle.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5394960" cy="1876943"/>
          </a:xfrm>
          <a:prstGeom prst="roundRect">
            <a:avLst>
              <a:gd name="adj" fmla="val 2436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38988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17 — the old way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5102352" cy="160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call does everything,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00784"/>
            <a:ext cx="5394960" cy="1876943"/>
          </a:xfrm>
          <a:prstGeom prst="roundRect">
            <a:avLst>
              <a:gd name="adj" fmla="val 2436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38988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— the new way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1837944"/>
            <a:ext cx="5102352" cy="160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 once, render many times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803904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principle: separate the expensive SETUP you do once from the cheap ACTION you do many times.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5404104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7914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createRoot() — done once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519379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container · set up the event system · initialise the fiber tree · configure the rendering mode (concurrent).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08776" y="4626864"/>
            <a:ext cx="5404104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4808" y="47914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root.render() — done often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519379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a new description. All the expensive wiring already exists, so this call stays cheap.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REACT 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once, act many times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858000" cy="3017977"/>
          </a:xfrm>
          <a:prstGeom prst="roundRect">
            <a:avLst>
              <a:gd name="adj" fmla="val 1515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17320"/>
            <a:ext cx="6565392" cy="2743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 — expensive, done ONCE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find container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set up the event system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initialise the fiber tree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configure the rendering mode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RENDER — cheap, done MANY times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26680" y="1280160"/>
            <a:ext cx="3886200" cy="2743200"/>
          </a:xfrm>
          <a:prstGeom prst="roundRect">
            <a:avLst>
              <a:gd name="adj" fmla="val 23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64424" y="1444752"/>
            <a:ext cx="384048" cy="384048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64424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76488" y="1444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1847088"/>
            <a:ext cx="33741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bank account is slow: forms, KYC, verification. You do it once.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transaction is fast, because the account already exists. You do it a thousand times.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createRoot is opening the account. render is the transaction.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512064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17 redid that setup on every render() call. React 18 does it once and hands you a handle — which is also what unlocked concurrent rendering.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far, in one picture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46120" y="1325880"/>
            <a:ext cx="571500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55848" y="1325880"/>
            <a:ext cx="5495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code  ·  React.createElement()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9048" y="1874520"/>
            <a:ext cx="0" cy="274320"/>
          </a:xfrm>
          <a:prstGeom prst="line">
            <a:avLst/>
          </a:prstGeom>
          <a:noFill/>
          <a:ln w="22225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2194560"/>
            <a:ext cx="699516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15768" y="2194560"/>
            <a:ext cx="6775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 (plain JavaScript object)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 · fast to create and compare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9048" y="2907792"/>
            <a:ext cx="0" cy="310896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3218688"/>
            <a:ext cx="3794760" cy="0"/>
          </a:xfrm>
          <a:prstGeom prst="line">
            <a:avLst/>
          </a:prstGeom>
          <a:noFill/>
          <a:ln w="15875">
            <a:solidFill>
              <a:srgbClr val="6E76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3218688"/>
            <a:ext cx="0" cy="320040"/>
          </a:xfrm>
          <a:prstGeom prst="line">
            <a:avLst/>
          </a:prstGeom>
          <a:noFill/>
          <a:ln w="22225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3218688"/>
            <a:ext cx="0" cy="320040"/>
          </a:xfrm>
          <a:prstGeom prst="line">
            <a:avLst/>
          </a:prstGeom>
          <a:noFill/>
          <a:ln w="22225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358444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3584448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12280" y="358444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2008" y="3584448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4114800"/>
            <a:ext cx="0" cy="292608"/>
          </a:xfrm>
          <a:prstGeom prst="line">
            <a:avLst/>
          </a:prstGeom>
          <a:noFill/>
          <a:ln w="22225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4114800"/>
            <a:ext cx="0" cy="292608"/>
          </a:xfrm>
          <a:prstGeom prst="line">
            <a:avLst/>
          </a:prstGeom>
          <a:noFill/>
          <a:ln w="22225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17520" y="445312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27248" y="445312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445312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22008" y="445312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views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5623560"/>
            <a:ext cx="10442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on, everything new — JSX, Babel, components, props — is just a nicer way to produce that middle box.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6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610" y="3185770"/>
            <a:ext cx="486461" cy="486461"/>
          </a:xfrm>
          <a:prstGeom prst="ellipse">
            <a:avLst/>
          </a:prstGeom>
          <a:solidFill>
            <a:srgbClr val="61DAFB">
              <a:alpha val="3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 that looks like HTML, is not HTML,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not even JavaScript.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NOT HTML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paste this into a plain .js file and the browser throws a SyntaxError.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11064240" cy="1051514"/>
          </a:xfrm>
          <a:prstGeom prst="roundRect">
            <a:avLst>
              <a:gd name="adj" fmla="val 434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38988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write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10771632" cy="77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&lt;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Bhaiya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Uncaught SyntaxError: Unexpected token '&lt;'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5486400" cy="1480414"/>
          </a:xfrm>
          <a:prstGeom prst="roundRect">
            <a:avLst>
              <a:gd name="adj" fmla="val 308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7614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runs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209544"/>
            <a:ext cx="519379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Harsh Bhaiya Students'</a:t>
            </a:r>
            <a:endParaRPr lang="en-US" sz="1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072384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65392" y="3236976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syntactic sugar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639312"/>
            <a:ext cx="4791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shorthand for React.createElement() calls — nothing more.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browser, and no JavaScript engine, can execute JSX. Something must translate it first. That something is Babel, and it is the next section.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5129784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not HTML in JavaScript. It is a function call wearing an HTML costume.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 — and the reason behind each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arbitrary. Each one falls out of "this compiles to a function call".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className, not class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67712"/>
            <a:ext cx="48828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is a reserved word in JavaScript. Props become object keys and DOM properties, and the DOM property has always been element.className.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700784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5664" y="186537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5566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takes an object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267712"/>
            <a:ext cx="48828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style={{ color: "red" }} — the outer braces mean "JavaScript here", the inner ones are an object literal. camelCase keys, because that is how the DOM style object is spelled.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83133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831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tag must be closed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33672"/>
            <a:ext cx="48828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 /&gt;, &lt;br /&gt;, &lt;input /&gt;. The compiler is building nested function calls, so it needs an unambiguous end to every element.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666744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383133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55664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3831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element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233672"/>
            <a:ext cx="48828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returns exactly one value, so JSX must produce one element. Wrap siblings in a &lt;div&gt;, or in &lt;&gt; &lt;/&gt; when you do not want an extra node.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404104"/>
            <a:ext cx="11064240" cy="565968"/>
          </a:xfrm>
          <a:prstGeom prst="roundRect">
            <a:avLst>
              <a:gd name="adj" fmla="val 807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" y="5541264"/>
            <a:ext cx="10771632" cy="29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&lt;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"card"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={{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"20px"</a:t>
            </a:r>
            <a:pPr indent="0" marL="0">
              <a:lnSpc>
                <a:spcPct val="9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}} /&gt;;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inside { }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{ } means: stop JSX, start JavaScript. Only EXPRESSIONS are allowed — things that evaluate to a value.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406640" cy="2872313"/>
          </a:xfrm>
          <a:prstGeom prst="roundRect">
            <a:avLst>
              <a:gd name="adj" fmla="val 1592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7114032" cy="2597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"Harsh"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[1, 2, 3];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&gt;{2 + 2}&lt;/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&gt;)}&lt;/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"Sign in"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700784"/>
            <a:ext cx="3383280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85632" y="186537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Expression, yes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85632" y="2267712"/>
            <a:ext cx="28712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arithmetic, function calls, ternaries, .map(), template literals.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3630168"/>
            <a:ext cx="3383280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85632" y="37947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Statement, no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85632" y="4197096"/>
            <a:ext cx="28712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for, while, switch. They produce no value, so there is nothing to put in the tree.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ternary or &amp;&amp; instead.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renders, what does not, and why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put in { } is handed to the renderer. Here is how it is treated.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00784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1D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in { 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1D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1D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  (string)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as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is exactly what a text node holds.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 (number)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as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a string, then rendered.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[a, b, c]  (array)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every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walks the array and renders each entry. Hence .map() for lists.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  (boolean)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Deliberate: it is what makes {cond &amp;&amp; &lt;p/&gt;} work as a clean toggle.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/ undefined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 "no UI here" — so a component can legally return nothing.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a: 1 }  (object)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Throws an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has no rule for turning an arbitrary object into text.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fn()  returning JSX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call happens first; React only ever sees the returned element.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507492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decides every row: can React turn this value into something on screen? Yes → render it. Nothing to draw → skip silently. No rule → throw.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that surprise people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168271"/>
          </a:xfrm>
          <a:prstGeom prst="roundRect">
            <a:avLst>
              <a:gd name="adj" fmla="val 2109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24358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render nothing — on purpose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691640"/>
            <a:ext cx="5193792" cy="189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isLoggedIn is false, so the whole expression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 false, and false renders nothing.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if-statement needed.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72784" y="124358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throw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72784" y="1691640"/>
            <a:ext cx="51937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"Harsh"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Objects are not valid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 a React child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"Harsh"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reach INTO the object for a string or number.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21A10"/>
          </a:solidFill>
          <a:ln w="12700">
            <a:solidFill>
              <a:srgbClr val="4A34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3657600"/>
            <a:ext cx="10442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0 is NOT a boolean. {items.length &amp;&amp; &lt;List /&gt;} prints a literal 0 when the array is empty. Write {items.length &gt; 0 &amp;&amp; &lt;List /&gt;}.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873752"/>
            <a:ext cx="10552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5276088"/>
            <a:ext cx="10552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asks one question of every value in braces: "can I turn this into something on screen?"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and numbers: yes. Elements and arrays of elements: yes. Booleans, null and undefined: nothing to draw, so skip silently. Any other object: no rule exists, so fail loudly rather than guess.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6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610" y="3185770"/>
            <a:ext cx="486461" cy="486461"/>
          </a:xfrm>
          <a:prstGeom prst="ellipse">
            <a:avLst/>
          </a:prstGeom>
          <a:solidFill>
            <a:srgbClr val="61DAFB">
              <a:alpha val="3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turns JSX into JavaScript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can actually run.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Babel actually does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code no engine understands. Output: plain React.createElement() calls.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5074920" cy="1609893"/>
          </a:xfrm>
          <a:prstGeom prst="roundRect">
            <a:avLst>
              <a:gd name="adj" fmla="val 284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38988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—  what you write (JSX)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4782312" cy="133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2478024"/>
            <a:ext cx="59436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1700784"/>
            <a:ext cx="5074920" cy="1609893"/>
          </a:xfrm>
          <a:prstGeom prst="roundRect">
            <a:avLst>
              <a:gd name="adj" fmla="val 284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84264" y="138988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—  what runs (JavaScript)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84264" y="1837944"/>
            <a:ext cx="4782312" cy="133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'div'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'box'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'h1'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'World'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5404104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8313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becomes nesting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233672"/>
            <a:ext cx="4892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elements become extra arguments to the parent call. Your HTML-looking tree is literally a tree of function calls.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3666744"/>
            <a:ext cx="5404104" cy="1417320"/>
          </a:xfrm>
          <a:prstGeom prst="roundRect">
            <a:avLst>
              <a:gd name="adj" fmla="val 451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38313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must be in scope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233672"/>
            <a:ext cx="4892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mentions React by name, which is why older projects had to import React even when they never typed the word.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66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5266944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at babeljs.io/repl — paste JSX on the left, watch the createElement calls appear on the right.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 vs Compiler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04104" cy="2377440"/>
          </a:xfrm>
          <a:prstGeom prst="roundRect">
            <a:avLst>
              <a:gd name="adj" fmla="val 269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53619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  (source → source)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38528"/>
            <a:ext cx="4892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one language into ANOTHER LANGUAGE AT THE SAME LEVEL.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→ JavaScript. ES2023 → ES5. TypeScript → JavaScript.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still human-readable source code.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is a transpiler.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1371600"/>
            <a:ext cx="5404104" cy="2377440"/>
          </a:xfrm>
          <a:prstGeom prst="roundRect">
            <a:avLst>
              <a:gd name="adj" fmla="val 269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536192"/>
            <a:ext cx="384048" cy="384048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153619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 (source → lower level)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938528"/>
            <a:ext cx="4892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 language DOWN to a lower level.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machine code. Java → bytecode.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generally not meant for humans to read.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and javac are compilers.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393192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transpiler is technically a compiler. The word "transpiler" just tells you the output sits at the same abstraction level as the input.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64240" cy="954405"/>
          </a:xfrm>
          <a:prstGeom prst="roundRect">
            <a:avLst>
              <a:gd name="adj" fmla="val 479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4937760"/>
            <a:ext cx="10771632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Babel also back-ports modern syntax, not just JSX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write (ES6 arrow)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2; };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browsers receive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type="text/babel" — and why you outgrow 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Babel can run: in the browser while the user waits, or on your machine before you ship.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11064240" cy="1561338"/>
          </a:xfrm>
          <a:prstGeom prst="roundRect">
            <a:avLst>
              <a:gd name="adj" fmla="val 292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10771632" cy="128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"https://unpkg.com/@babel/standalone/babel.min.js"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"text/babel"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Bhaiya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83864"/>
            <a:ext cx="5404104" cy="2286000"/>
          </a:xfrm>
          <a:prstGeom prst="roundRect">
            <a:avLst>
              <a:gd name="adj" fmla="val 28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3648456"/>
            <a:ext cx="384048" cy="384048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648456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(what you see above)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050792"/>
            <a:ext cx="4892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downloads Babel, then translates your JSX on every page load, while the user waits.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is deliberately NOT text/javascript, so the browser ignores the block and leaves it for Babel.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learning. Never for production.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3483864"/>
            <a:ext cx="5404104" cy="2286000"/>
          </a:xfrm>
          <a:prstGeom prst="roundRect">
            <a:avLst>
              <a:gd name="adj" fmla="val 28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648456"/>
            <a:ext cx="384048" cy="384048"/>
          </a:xfrm>
          <a:prstGeom prst="ellipse">
            <a:avLst/>
          </a:prstGeom>
          <a:solidFill>
            <a:srgbClr val="5CD6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58584" y="3648456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(Vite, Next.js, CRA)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4050792"/>
            <a:ext cx="4892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runs once on your machine. The browser receives plain JavaScript and never sees JSX or Babel at all.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loads, smaller bundles, and you catch syntax errors before users do.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every real project uses.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6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610" y="3185770"/>
            <a:ext cx="486461" cy="486461"/>
          </a:xfrm>
          <a:prstGeom prst="ellipse">
            <a:avLst/>
          </a:prstGeom>
          <a:solidFill>
            <a:srgbClr val="61DAFB">
              <a:alpha val="3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function that returns JSX.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sentence is the entire feature.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just a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06640" cy="2661910"/>
          </a:xfrm>
          <a:prstGeom prst="roundRect">
            <a:avLst>
              <a:gd name="adj" fmla="val 171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17320"/>
            <a:ext cx="7114032" cy="238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 takes nothing (for now) and returns JSX.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Bhaiya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it like a tag: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"root"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Babel turns &lt;Welcome /&gt; into: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note: no quotes around Welcome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1280160"/>
            <a:ext cx="3383280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85632" y="144475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concept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85632" y="1847088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to extend, no framework API to learn. A function and a return statement.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962656"/>
            <a:ext cx="3383280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31272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reusability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3529584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from slide 6 — "not reusable" — is now solved. Write it once, use it anywhere.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480560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at the last line: Welcome has no quotes. That tiny detail is the whole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capital letter is REQUIRED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style convention. It is how Babel decides what to emit.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5486400" cy="2572893"/>
          </a:xfrm>
          <a:prstGeom prst="roundRect">
            <a:avLst>
              <a:gd name="adj" fmla="val 1777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3898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 →  treated as a DOM tag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5193792" cy="229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Babel emits: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'welcome'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 ^^^^^^^^^  a STRING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asks the browser for a &lt;welcome&gt; tag.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such tag exists. You get an empty,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silent, unstyled element. No error.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00784"/>
            <a:ext cx="5486400" cy="2572893"/>
          </a:xfrm>
          <a:prstGeom prst="roundRect">
            <a:avLst>
              <a:gd name="adj" fmla="val 1777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3898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Capitalised  →  treated as a component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837944"/>
            <a:ext cx="5193792" cy="229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Babel emits: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 ^^^^^^^  a VARIABLE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sees type is a function, calls it,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 renders whatever it returns.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component runs.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4306824"/>
            <a:ext cx="10442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inside React: if type is a string, hand it to the DOM. If type is a function, call it and render the result.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— components inside components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component returns JSX, and JSX can contain components, trees build themselves.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040880" cy="4442247"/>
          </a:xfrm>
          <a:prstGeom prst="roundRect">
            <a:avLst>
              <a:gd name="adj" fmla="val 1029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6748272" cy="416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Bhaiya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}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&gt;© 2026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MSOT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}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"card"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principles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forever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*/}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63840" y="1700784"/>
            <a:ext cx="3749040" cy="1325880"/>
          </a:xfrm>
          <a:prstGeom prst="roundRect">
            <a:avLst>
              <a:gd name="adj" fmla="val 482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186537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tree, many owners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19872" y="2267712"/>
            <a:ext cx="3236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owns the layout. Card owns its own markup. Each piece can be read, tested and changed alone.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3209544"/>
            <a:ext cx="3749040" cy="1325880"/>
          </a:xfrm>
          <a:prstGeom prst="roundRect">
            <a:avLst>
              <a:gd name="adj" fmla="val 482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19872" y="337413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tree, flattened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3776472"/>
            <a:ext cx="3236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Header, Card, Card, Footer → h1, div, div, p. React resolves top-down until only DOM tags are left.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4718304"/>
            <a:ext cx="3749040" cy="1325880"/>
          </a:xfrm>
          <a:prstGeom prst="roundRect">
            <a:avLst>
              <a:gd name="adj" fmla="val 482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488289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just objects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5285232"/>
            <a:ext cx="3236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tag is a createElement() call producing a plain object. Nothing has touched the DOM yet.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6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8412480" y="2768803"/>
            <a:ext cx="3474720" cy="1320394"/>
          </a:xfrm>
          <a:prstGeom prst="ellipse">
            <a:avLst/>
          </a:prstGeom>
          <a:ln w="19050">
            <a:solidFill>
              <a:srgbClr val="61DAF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610" y="3185770"/>
            <a:ext cx="486461" cy="486461"/>
          </a:xfrm>
          <a:prstGeom prst="ellipse">
            <a:avLst/>
          </a:prstGeom>
          <a:solidFill>
            <a:srgbClr val="61DAFB">
              <a:alpha val="3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functions.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how you pass them arguments.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function parameters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write as an attribute becomes a key on one object handed to your function.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406640" cy="2661910"/>
          </a:xfrm>
          <a:prstGeom prst="roundRect">
            <a:avLst>
              <a:gd name="adj" fmla="val 1718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7114032" cy="238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"Harsh"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={25} /&gt;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Babel emits: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'Harsh'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25 });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then calls your function with that object: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'Harsh'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25 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700784"/>
            <a:ext cx="3383280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85632" y="186537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2nd argument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85632" y="2267712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is exactly the props object from createElement. Nothing is added, nothing is hidden.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3383280"/>
            <a:ext cx="3383280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85632" y="354787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"props" is just a name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85632" y="3950208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ordinary parameter. Call it p if you like — React passes the object positionally.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type can be a prop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give you a string. Braces give you a JavaScript value. That is the only rule.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7680960" cy="3843406"/>
          </a:xfrm>
          <a:prstGeom prst="roundRect">
            <a:avLst>
              <a:gd name="adj" fmla="val 1190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37944"/>
            <a:ext cx="7388352" cy="3569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"Harsh"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 — quotes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={25}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  — braces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 — braces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={[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'Node'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'Java'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={{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'Bengaluru'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}}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 (note the double braces)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handleClick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 — pass it, do NOT call it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· 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&lt;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}&gt;{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&gt;)}&lt;/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0" y="1700784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59952" y="18653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age="25" vs age={25}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59952" y="2267712"/>
            <a:ext cx="2596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is the string "25". The second is the number 25. "25" + 1 is "251".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3920" y="3255264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59952" y="34198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onClick={fn} vs onClick={fn()}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59952" y="3822192"/>
            <a:ext cx="2596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CALLS the function during render and passes its return value. A very common bug.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0" y="4809744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59952" y="497433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2" y="5376672"/>
            <a:ext cx="2596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= "JavaScript here". Inner = an object literal. Same rule as style.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read-only — and here is why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669280" cy="1763649"/>
          </a:xfrm>
          <a:prstGeom prst="roundRect">
            <a:avLst>
              <a:gd name="adj" fmla="val 2592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17320"/>
            <a:ext cx="5376672" cy="148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'Someone else'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✕ never do this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freezes props in development: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TypeError: Cannot assign to read only property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303520" cy="1325880"/>
          </a:xfrm>
          <a:prstGeom prst="roundRect">
            <a:avLst>
              <a:gd name="adj" fmla="val 482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144475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47104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14447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must be pure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847088"/>
            <a:ext cx="47914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props in must mean same JSX out. If a component edits its own input, the same props can produce different output and rendering stops being predictable.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807208"/>
            <a:ext cx="5303520" cy="1325880"/>
          </a:xfrm>
          <a:prstGeom prst="roundRect">
            <a:avLst>
              <a:gd name="adj" fmla="val 482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47104" y="2971800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47104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971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by calling again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3374136"/>
            <a:ext cx="47914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update means React calls your function once more with fresh props. Anything you mutated inside it would be silently discarded.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334256"/>
            <a:ext cx="5303520" cy="1325880"/>
          </a:xfrm>
          <a:prstGeom prst="roundRect">
            <a:avLst>
              <a:gd name="adj" fmla="val 482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7104" y="4498848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47104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44988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one way: down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4901184"/>
            <a:ext cx="47914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editing its props would be editing the parent's data behind its back. Then no one can say where a value came from.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3154680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value to change? It belongs to the parent as state — and the parent passes down a function the child can call to ask for the change.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Destructuring, defaults, and children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370582"/>
          </a:xfrm>
          <a:prstGeom prst="roundRect">
            <a:avLst>
              <a:gd name="adj" fmla="val 1929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24358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props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691640"/>
            <a:ext cx="5193792" cy="209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Instead of repeating props. everywhere: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18 }) {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thing, written out: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18 } =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486400" cy="2775204"/>
          </a:xfrm>
          <a:prstGeom prst="roundRect">
            <a:avLst>
              <a:gd name="adj" fmla="val 1647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72784" y="124358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prop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72784" y="1691640"/>
            <a:ext cx="5193792" cy="250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{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"card"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"Batch 01"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Anything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404104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43708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is not special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77316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slide 14: createElement puts whatever sits between the tags into props.children. The name is a convention React honours, not a separate mechanism.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8776" y="4206240"/>
            <a:ext cx="5404104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43708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477316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build wrappers — cards, modals, layouts — that know nothing about the content they hold. That is how you get a truly reusable component.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three jobs, in a fixed order. Nothing else is involved.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3517392" cy="2514600"/>
          </a:xfrm>
          <a:prstGeom prst="roundRect">
            <a:avLst>
              <a:gd name="adj" fmla="val 2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865376"/>
            <a:ext cx="251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67712"/>
            <a:ext cx="300532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JSX.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React.createElement() calls.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anything executes — at build time, or in the browser via text/babel.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React internals or the DOM.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1700784"/>
            <a:ext cx="3517392" cy="2514600"/>
          </a:xfrm>
          <a:prstGeom prst="roundRect">
            <a:avLst>
              <a:gd name="adj" fmla="val 2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9808" y="186537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980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71872" y="1865376"/>
            <a:ext cx="251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8096" y="2267712"/>
            <a:ext cx="300532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those createElement() calls.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plain objects: { type, props }.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components by calling them, recursively, until only DOM tags remain.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the DOM.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5488" y="1700784"/>
            <a:ext cx="3517392" cy="2514600"/>
          </a:xfrm>
          <a:prstGeom prst="roundRect">
            <a:avLst>
              <a:gd name="adj" fmla="val 254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3232" y="1865376"/>
            <a:ext cx="384048" cy="384048"/>
          </a:xfrm>
          <a:prstGeom prst="ellipse">
            <a:avLst/>
          </a:prstGeom>
          <a:solidFill>
            <a:srgbClr val="5CD6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323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45296" y="1865376"/>
            <a:ext cx="251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51520" y="2267712"/>
            <a:ext cx="300532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finished object tree.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updates real DOM nodes.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later renders, compares the new tree with the old one and changes only what differs.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that knows a browser exists.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489704"/>
            <a:ext cx="11064240" cy="557875"/>
          </a:xfrm>
          <a:prstGeom prst="roundRect">
            <a:avLst>
              <a:gd name="adj" fmla="val 8195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4626864"/>
            <a:ext cx="10771632" cy="283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JSX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Babel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resolution,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189086"/>
          </a:xfrm>
          <a:prstGeom prst="roundRect">
            <a:avLst>
              <a:gd name="adj" fmla="val 3845"/>
            </a:avLst>
          </a:prstGeom>
          <a:solidFill>
            <a:srgbClr val="11161D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17320"/>
            <a:ext cx="10771632" cy="914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{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"Harsh"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/&gt;&lt;/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}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42316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sees type: App — a function. It calls App().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99008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returns { type: "div", props: { children: { type: Welcome, props: { name: "Harsh" } } } }.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557016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"div" is a string, so it stays. But its child's type is a function, so React calls Welcome({ name: "Harsh" }).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78808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123944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returns { type: "h1", props: { children: ["Hello ", "Harsh"] } }. Every type is now a string — recursion stops.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5CD6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69087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 walks the finished tree and builds &lt;div&gt;&lt;h1&gt;Hello Harsh&lt;/h1&gt;&lt;/div&gt; in the real DOM.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5532120"/>
            <a:ext cx="10442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keeps calling functions until every type in the tree is a plain string. Only then does ReactDOM get involved.</a:t>
            </a:r>
            <a:endParaRPr lang="en-US" sz="14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things worth remembering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4475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44475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exists to kill repetition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47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DOM code repeats its shape endlessly.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28016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44475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12864" y="144475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returns an object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1847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{ type, props }. No DOM node.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4505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245059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object is the Virtual DOM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285292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description, not the thing described.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63056" y="228600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4505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45059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and ReactDOM split by job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285292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vs where and how to show it.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345643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345643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createRoot once, render many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385876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setup separated from cheap action.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63056" y="329184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45643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12864" y="345643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not HTML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19088" y="385876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createElement() in an HTML costume.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29768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46227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86384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298448" y="44622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does the translating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" y="486460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to source, before anything runs.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63056" y="429768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446227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12864" y="44622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function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419088" y="486460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props and returns JSX.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30352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" y="546811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86384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298448" y="546811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letter is a rule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04672" y="587044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becomes a DOM tag string.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63056" y="5303520"/>
            <a:ext cx="5449824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546811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0080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912864" y="546811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flow down, read-only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419088" y="587044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props in, same UI out. Always.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138160" y="2836469"/>
            <a:ext cx="3840480" cy="1459382"/>
          </a:xfrm>
          <a:prstGeom prst="ellipse">
            <a:avLst/>
          </a:prstGeom>
          <a:ln w="19050">
            <a:solidFill>
              <a:srgbClr val="61DAFB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600000">
            <a:off x="8138160" y="2836469"/>
            <a:ext cx="3840480" cy="1459382"/>
          </a:xfrm>
          <a:prstGeom prst="ellipse">
            <a:avLst/>
          </a:prstGeom>
          <a:ln w="19050">
            <a:solidFill>
              <a:srgbClr val="61DAF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0">
            <a:off x="8138160" y="2836469"/>
            <a:ext cx="3840480" cy="1459382"/>
          </a:xfrm>
          <a:prstGeom prst="ellipse">
            <a:avLst/>
          </a:prstGeom>
          <a:ln w="19050">
            <a:solidFill>
              <a:srgbClr val="61DAFB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9566" y="3297326"/>
            <a:ext cx="537667" cy="537667"/>
          </a:xfrm>
          <a:prstGeom prst="ellipse">
            <a:avLst/>
          </a:prstGeom>
          <a:solidFill>
            <a:srgbClr val="61DAFB">
              <a:alpha val="28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691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move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— giving a component memory, and why you never assign to a variable instead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onClick, onChange, and React's synthetic event system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lists with .map(), and what the key prop is really for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 patterns beyond &amp;&amp; and the ternary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algorithm — how React decides what actually changed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93776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13222B"/>
          </a:solidFill>
          <a:ln w="12700">
            <a:solidFill>
              <a:srgbClr val="1F4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79576" y="4937760"/>
            <a:ext cx="6876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rebuild slide 8 and slide 17 from memory, in one HTML file, without looking. If it renders, you understood React.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School of Technology  ·  Full Stack Batch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React — First Principles</dc:title>
  <dc:subject>PptxGenJS Presentation</dc:subject>
  <dc:creator>Mirai School of Technology</dc:creator>
  <cp:lastModifiedBy>Mirai School of Technology</cp:lastModifiedBy>
  <cp:revision>1</cp:revision>
  <dcterms:created xsi:type="dcterms:W3CDTF">2026-09-16T19:07:45Z</dcterms:created>
  <dcterms:modified xsi:type="dcterms:W3CDTF">2026-09-16T19:07:45Z</dcterms:modified>
</cp:coreProperties>
</file>